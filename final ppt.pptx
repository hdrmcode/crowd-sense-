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78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8048" y="113475"/>
            <a:ext cx="3076915" cy="112548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1624" y="266700"/>
            <a:ext cx="2590800" cy="619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644" y="224739"/>
            <a:ext cx="1081471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2510" y="1048003"/>
            <a:ext cx="9884410" cy="355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70435" y="6616090"/>
            <a:ext cx="20065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38668" y="399541"/>
            <a:ext cx="4496435" cy="1887220"/>
            <a:chOff x="7638668" y="399541"/>
            <a:chExt cx="4496435" cy="1887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8668" y="399541"/>
              <a:ext cx="4496308" cy="18868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3349" y="552449"/>
              <a:ext cx="4029075" cy="138112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09852" y="1904542"/>
            <a:ext cx="8352790" cy="43040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200" spc="-30" dirty="0">
                <a:latin typeface="Times New Roman"/>
                <a:cs typeface="Times New Roman"/>
              </a:rPr>
              <a:t>Team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Members:</a:t>
            </a:r>
            <a:endParaRPr sz="3200" dirty="0">
              <a:latin typeface="Times New Roman"/>
              <a:cs typeface="Times New Roman"/>
            </a:endParaRPr>
          </a:p>
          <a:p>
            <a:pPr marL="870585" indent="-399415">
              <a:lnSpc>
                <a:spcPct val="100000"/>
              </a:lnSpc>
              <a:spcBef>
                <a:spcPts val="265"/>
              </a:spcBef>
              <a:buSzPct val="116363"/>
              <a:buAutoNum type="arabicPeriod"/>
              <a:tabLst>
                <a:tab pos="870585" algn="l"/>
              </a:tabLst>
            </a:pPr>
            <a:r>
              <a:rPr sz="2750" dirty="0">
                <a:latin typeface="Times New Roman"/>
                <a:cs typeface="Times New Roman"/>
              </a:rPr>
              <a:t>Hariduthram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PS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10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2023BIFT07AED006</a:t>
            </a:r>
            <a:endParaRPr sz="2750" dirty="0">
              <a:latin typeface="Times New Roman"/>
              <a:cs typeface="Times New Roman"/>
            </a:endParaRPr>
          </a:p>
          <a:p>
            <a:pPr marL="829944" indent="-35877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829944" algn="l"/>
              </a:tabLst>
            </a:pPr>
            <a:r>
              <a:rPr sz="2750" dirty="0">
                <a:latin typeface="Times New Roman"/>
                <a:cs typeface="Times New Roman"/>
              </a:rPr>
              <a:t>S</a:t>
            </a:r>
            <a:r>
              <a:rPr lang="en-IN" sz="27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</a:t>
            </a:r>
            <a:r>
              <a:rPr sz="2750" spc="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Kowshik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Raj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2023BIFT07AED009</a:t>
            </a:r>
            <a:endParaRPr sz="2750" dirty="0">
              <a:latin typeface="Times New Roman"/>
              <a:cs typeface="Times New Roman"/>
            </a:endParaRPr>
          </a:p>
          <a:p>
            <a:pPr marL="822325" indent="-35115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822325" algn="l"/>
              </a:tabLst>
            </a:pPr>
            <a:r>
              <a:rPr sz="2750" dirty="0">
                <a:latin typeface="Times New Roman"/>
                <a:cs typeface="Times New Roman"/>
              </a:rPr>
              <a:t>S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Hareehareen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Heidenreich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2023BIFT07AED018</a:t>
            </a:r>
            <a:endParaRPr sz="2750" dirty="0">
              <a:latin typeface="Times New Roman"/>
              <a:cs typeface="Times New Roman"/>
            </a:endParaRPr>
          </a:p>
          <a:p>
            <a:pPr marL="825500" indent="-35433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825500" algn="l"/>
              </a:tabLst>
            </a:pPr>
            <a:r>
              <a:rPr sz="2750" dirty="0">
                <a:latin typeface="Times New Roman"/>
                <a:cs typeface="Times New Roman"/>
              </a:rPr>
              <a:t>Subhi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J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2023BIFT07AED012</a:t>
            </a: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Name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Mentor: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Dr.Ummadi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Janardhan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Reddy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1789430" algn="l"/>
                <a:tab pos="3269615" algn="l"/>
              </a:tabLst>
            </a:pPr>
            <a:r>
              <a:rPr lang="en-IN" sz="3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6IT1991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32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9852" y="730585"/>
            <a:ext cx="3455417" cy="125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6840" marR="5080" indent="-2644775" algn="l">
              <a:lnSpc>
                <a:spcPct val="120000"/>
              </a:lnSpc>
              <a:spcBef>
                <a:spcPts val="95"/>
              </a:spcBef>
            </a:pPr>
            <a:r>
              <a:rPr sz="3500" dirty="0"/>
              <a:t>Crowd</a:t>
            </a:r>
            <a:r>
              <a:rPr sz="3500" spc="-120" dirty="0"/>
              <a:t> </a:t>
            </a:r>
            <a:r>
              <a:rPr lang="en-IN" sz="3500" spc="-120" dirty="0"/>
              <a:t>Sense</a:t>
            </a:r>
            <a:r>
              <a:rPr sz="3500" spc="-160" dirty="0"/>
              <a:t> </a:t>
            </a:r>
            <a:br>
              <a:rPr lang="en-IN" sz="3500" spc="-160" dirty="0"/>
            </a:br>
            <a:endParaRPr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708152"/>
            <a:ext cx="5937885" cy="589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00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literature</a:t>
            </a:r>
            <a:endParaRPr sz="24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354330" algn="l"/>
              </a:tabLst>
            </a:pPr>
            <a:r>
              <a:rPr sz="2400" dirty="0">
                <a:latin typeface="Times New Roman"/>
                <a:cs typeface="Times New Roman"/>
              </a:rPr>
              <a:t>Observations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95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Limitations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05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1105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spc="-10" dirty="0">
                <a:latin typeface="Times New Roman"/>
                <a:cs typeface="Times New Roman"/>
              </a:rPr>
              <a:t>Hardware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05"/>
              </a:spcBef>
              <a:buAutoNum type="arabicPeriod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89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Plagiarism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Report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1884" y="88214"/>
            <a:ext cx="1352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5130" y="308813"/>
            <a:ext cx="2225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8644" y="1111453"/>
            <a:ext cx="10737850" cy="410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Enhances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emergency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events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concerts,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sports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libri"/>
                <a:cs typeface="Calibri"/>
              </a:rPr>
              <a:t>matches,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festivals.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3299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Calibri"/>
                <a:cs typeface="Calibri"/>
              </a:rPr>
              <a:t>Integrates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attendees.</a:t>
            </a:r>
            <a:endParaRPr sz="2400">
              <a:latin typeface="Calibri"/>
              <a:cs typeface="Calibri"/>
            </a:endParaRPr>
          </a:p>
          <a:p>
            <a:pPr marL="355600" marR="256540" indent="-342900">
              <a:lnSpc>
                <a:spcPct val="1008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early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conditions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triggers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emergencies.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25" dirty="0">
                <a:latin typeface="Calibri"/>
                <a:cs typeface="Calibri"/>
              </a:rPr>
              <a:t>Provides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tracking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medical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assistance.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Offers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organizers.</a:t>
            </a:r>
            <a:endParaRPr sz="2400">
              <a:latin typeface="Calibri"/>
              <a:cs typeface="Calibri"/>
            </a:endParaRPr>
          </a:p>
          <a:p>
            <a:pPr marL="355600" marR="203835" indent="-342900">
              <a:lnSpc>
                <a:spcPct val="1004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IoT-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responsive,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health-</a:t>
            </a:r>
            <a:r>
              <a:rPr sz="2400" dirty="0">
                <a:latin typeface="Calibri"/>
                <a:cs typeface="Calibri"/>
              </a:rPr>
              <a:t>aware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2958" y="308813"/>
            <a:ext cx="34613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Review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literature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287918"/>
              </p:ext>
            </p:extLst>
          </p:nvPr>
        </p:nvGraphicFramePr>
        <p:xfrm>
          <a:off x="120906" y="1067056"/>
          <a:ext cx="11950186" cy="5524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5250" marR="174625">
                        <a:lnSpc>
                          <a:spcPct val="101099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Research/Method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ology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645795">
                        <a:lnSpc>
                          <a:spcPct val="10109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Metrics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dirty="0" err="1"/>
                        <a:t>Bh</a:t>
                      </a:r>
                      <a:r>
                        <a:rPr lang="en-IN" dirty="0"/>
                        <a:t>. Prashanthi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AI-driven wearable IoT health monitoring using CNN, LSTM, Random Forest &amp; SVM with cloud-based predictive analytics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Prediction accuracy (~96%), response time (&lt;3 sec), processing efficiency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Real-time monitoring, early disease prediction, remote healthcare support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Data privacy issues, interoperability challenges, cloud dependency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8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dirty="0"/>
                        <a:t>Suraj Gupta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IoT wearable system with machine learning for continuous physical and emotional health monitoring with anomaly detection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Validation accuracy (~85%), sensitivity, specificity, F1-score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Personalized feedback, stress detection, proactive health alerts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IN" dirty="0"/>
                        <a:t>Performance variation in dynamic conditions, battery 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9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lang="en-IN" dirty="0"/>
                        <a:t>Caroline Abreu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795"/>
                        </a:lnSpc>
                      </a:pPr>
                      <a:r>
                        <a:rPr lang="en-US" dirty="0"/>
                        <a:t>Review-based study on wearable biosensors for continuous physiological and biochemical monitoring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93980">
                        <a:lnSpc>
                          <a:spcPct val="101099"/>
                        </a:lnSpc>
                        <a:spcBef>
                          <a:spcPts val="570"/>
                        </a:spcBef>
                      </a:pPr>
                      <a:r>
                        <a:rPr lang="en-US" dirty="0"/>
                        <a:t>Sensor reliability, monitoring capability, clinical feasibility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37185">
                        <a:lnSpc>
                          <a:spcPct val="101099"/>
                        </a:lnSpc>
                        <a:spcBef>
                          <a:spcPts val="570"/>
                        </a:spcBef>
                      </a:pPr>
                      <a:r>
                        <a:rPr lang="en-IN" dirty="0"/>
                        <a:t>Continuous monitoring, preventive healthcare, non-invasive sensing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lang="en-US" dirty="0"/>
                        <a:t>Privacy concerns, lack of standardization, integration challenges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3852A1C-E703-842D-91E6-F7729D79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95769"/>
              </p:ext>
            </p:extLst>
          </p:nvPr>
        </p:nvGraphicFramePr>
        <p:xfrm>
          <a:off x="280036" y="228600"/>
          <a:ext cx="11631927" cy="6194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5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96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5250" marR="174625">
                        <a:lnSpc>
                          <a:spcPct val="101099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Research/Method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ology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645795">
                        <a:lnSpc>
                          <a:spcPct val="10109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Metrics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dirty="0"/>
                        <a:t>Arnab Abhijit Chaudhuri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IN" dirty="0"/>
                        <a:t>IoT-based cloud-integrated health monitoring system using ESP32, contactless IR temperature sensor and PPG pulse sensor with adaptive filtering &amp; cloud platforms (Blynk, </a:t>
                      </a:r>
                      <a:r>
                        <a:rPr lang="en-IN" dirty="0" err="1"/>
                        <a:t>ThingSpeak</a:t>
                      </a:r>
                      <a:r>
                        <a:rPr lang="en-IN" dirty="0"/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lang="en-US" dirty="0"/>
                        <a:t>Temperature accuracy (±0.3°C), heart rate accuracy (within 2–3 BPM), real-time cloud response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Contactless monitoring, real-time remote access, low-cost portable design, accurate signal processing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Motion noise affects pulse readings, requires Wi-Fi connectivity, limited parameters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dirty="0"/>
                        <a:t>Surya Narayanan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AI-based crowd management system using machine learning, computer vision and real-time video analytics to monitor crowd density, predict behavior and support emergency response in smart public spaces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Tracking accuracy, prediction accuracy, system latency, response efficiency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Improves public safety, real-time crowd monitoring, supports early hazard detection and evacuation planning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Requires high computational resources, privacy concerns with video surveillance, performance depends on camera quality &amp; network stability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73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46428"/>
            <a:ext cx="10861675" cy="32264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790" marR="5080" indent="-33909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address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 	solutions.</a:t>
            </a:r>
            <a:endParaRPr sz="2400">
              <a:latin typeface="Calibri"/>
              <a:cs typeface="Calibri"/>
            </a:endParaRPr>
          </a:p>
          <a:p>
            <a:pPr marL="351790" indent="-33909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1790" algn="l"/>
              </a:tabLst>
            </a:pP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enables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battery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connectivity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challenges.</a:t>
            </a:r>
            <a:endParaRPr sz="2400">
              <a:latin typeface="Calibri"/>
              <a:cs typeface="Calibri"/>
            </a:endParaRPr>
          </a:p>
          <a:p>
            <a:pPr marL="351790" marR="782955" indent="-339090">
              <a:lnSpc>
                <a:spcPct val="100800"/>
              </a:lnSpc>
              <a:spcBef>
                <a:spcPts val="505"/>
              </a:spcBef>
              <a:buAutoNum type="arabicPeriod" startAt="3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AI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accurate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computational 	power.</a:t>
            </a:r>
            <a:endParaRPr sz="2400">
              <a:latin typeface="Calibri"/>
              <a:cs typeface="Calibri"/>
            </a:endParaRPr>
          </a:p>
          <a:p>
            <a:pPr marL="351790" indent="-339090">
              <a:lnSpc>
                <a:spcPct val="100000"/>
              </a:lnSpc>
              <a:spcBef>
                <a:spcPts val="685"/>
              </a:spcBef>
              <a:buAutoNum type="arabicPeriod" startAt="3"/>
              <a:tabLst>
                <a:tab pos="351790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systems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visualization,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intelligent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navigation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unified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platform.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308813"/>
            <a:ext cx="71437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Observations</a:t>
            </a:r>
            <a:r>
              <a:rPr spc="-75" dirty="0"/>
              <a:t> </a:t>
            </a:r>
            <a:r>
              <a:rPr dirty="0"/>
              <a:t>from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0" dirty="0"/>
              <a:t>Literature</a:t>
            </a:r>
            <a:r>
              <a:rPr spc="-150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93724"/>
            <a:ext cx="10944225" cy="34404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27685" marR="1575435" indent="-515620">
              <a:lnSpc>
                <a:spcPct val="101200"/>
              </a:lnSpc>
              <a:spcBef>
                <a:spcPts val="65"/>
              </a:spcBef>
              <a:buFont typeface="Calibri"/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Most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studies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focus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isolated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crowd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control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health monitoring,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integrated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system.</a:t>
            </a:r>
            <a:endParaRPr sz="2600">
              <a:latin typeface="Calibri"/>
              <a:cs typeface="Calibri"/>
            </a:endParaRPr>
          </a:p>
          <a:p>
            <a:pPr marL="527685" marR="5080" indent="-515620">
              <a:lnSpc>
                <a:spcPct val="101200"/>
              </a:lnSpc>
              <a:spcBef>
                <a:spcPts val="585"/>
              </a:spcBef>
              <a:buAutoNum type="arabicPeriod"/>
              <a:tabLst>
                <a:tab pos="527685" algn="l"/>
              </a:tabLst>
            </a:pPr>
            <a:r>
              <a:rPr sz="2600" spc="-20" dirty="0">
                <a:latin typeface="Calibri"/>
                <a:cs typeface="Calibri"/>
              </a:rPr>
              <a:t>Wearable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devices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battery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drain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connectivity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issues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continuous monitoring.</a:t>
            </a:r>
            <a:endParaRPr sz="2600">
              <a:latin typeface="Calibri"/>
              <a:cs typeface="Calibri"/>
            </a:endParaRPr>
          </a:p>
          <a:p>
            <a:pPr marL="527685" marR="6350" indent="-515620">
              <a:lnSpc>
                <a:spcPct val="101200"/>
              </a:lnSpc>
              <a:spcBef>
                <a:spcPts val="490"/>
              </a:spcBef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AI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anomaly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demand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computational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power,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affecting </a:t>
            </a:r>
            <a:r>
              <a:rPr sz="2600" spc="-4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performance.</a:t>
            </a:r>
            <a:endParaRPr sz="2600">
              <a:latin typeface="Calibri"/>
              <a:cs typeface="Calibri"/>
            </a:endParaRPr>
          </a:p>
          <a:p>
            <a:pPr marL="527685" marR="1293495" indent="-515620">
              <a:lnSpc>
                <a:spcPct val="101200"/>
              </a:lnSpc>
              <a:spcBef>
                <a:spcPts val="590"/>
              </a:spcBef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lack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coordination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between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crowd </a:t>
            </a:r>
            <a:r>
              <a:rPr sz="2600" dirty="0">
                <a:latin typeface="Calibri"/>
                <a:cs typeface="Calibri"/>
              </a:rPr>
              <a:t>analytics,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emergency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response</a:t>
            </a:r>
            <a:r>
              <a:rPr sz="2600" spc="-1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mechanisms.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308813"/>
            <a:ext cx="6852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Limitations</a:t>
            </a:r>
            <a:r>
              <a:rPr spc="-75" dirty="0"/>
              <a:t> </a:t>
            </a:r>
            <a:r>
              <a:rPr dirty="0"/>
              <a:t>from</a:t>
            </a:r>
            <a:r>
              <a:rPr spc="-12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Literature</a:t>
            </a:r>
            <a:r>
              <a:rPr spc="-145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243820" cy="3668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3220" marR="5080" indent="-314325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63220" algn="l"/>
                <a:tab pos="39179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ensuring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attendee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safety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during </a:t>
            </a:r>
            <a:r>
              <a:rPr sz="2400" spc="-4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  <a:p>
            <a:pPr marL="365760" marR="230504" indent="-315595">
              <a:lnSpc>
                <a:spcPct val="103400"/>
              </a:lnSpc>
              <a:spcBef>
                <a:spcPts val="600"/>
              </a:spcBef>
              <a:buChar char="•"/>
              <a:tabLst>
                <a:tab pos="365760" algn="l"/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Existing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separately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navigation,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 monitoring.</a:t>
            </a:r>
            <a:endParaRPr sz="2400">
              <a:latin typeface="Calibri"/>
              <a:cs typeface="Calibri"/>
            </a:endParaRPr>
          </a:p>
          <a:p>
            <a:pPr marL="361315" marR="1069340" indent="-311150">
              <a:lnSpc>
                <a:spcPct val="100800"/>
              </a:lnSpc>
              <a:spcBef>
                <a:spcPts val="505"/>
              </a:spcBef>
              <a:buChar char="•"/>
              <a:tabLst>
                <a:tab pos="361315" algn="l"/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integration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delayed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inefficient coordination.</a:t>
            </a:r>
            <a:endParaRPr sz="2400">
              <a:latin typeface="Calibri"/>
              <a:cs typeface="Calibri"/>
            </a:endParaRPr>
          </a:p>
          <a:p>
            <a:pPr marL="390525" indent="-3429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9052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spc="-20" dirty="0">
                <a:latin typeface="Calibri"/>
                <a:cs typeface="Calibri"/>
              </a:rPr>
              <a:t>powered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endParaRPr sz="24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location-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safer,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smarter,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20" dirty="0"/>
              <a:t> </a:t>
            </a:r>
            <a:r>
              <a:rPr dirty="0"/>
              <a:t>Statement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275570" cy="402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Develop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AI-powered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integrates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Calibri"/>
                <a:cs typeface="Calibri"/>
              </a:rPr>
              <a:t>attendees’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355600" marR="1159510" indent="-342900">
              <a:lnSpc>
                <a:spcPct val="1034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 automatically.</a:t>
            </a:r>
            <a:endParaRPr sz="2400">
              <a:latin typeface="Calibri"/>
              <a:cs typeface="Calibri"/>
            </a:endParaRPr>
          </a:p>
          <a:p>
            <a:pPr marL="355600" marR="208915" indent="-342900">
              <a:lnSpc>
                <a:spcPct val="1008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Trigger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instant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on-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medical </a:t>
            </a:r>
            <a:r>
              <a:rPr sz="2400" dirty="0">
                <a:latin typeface="Calibri"/>
                <a:cs typeface="Calibri"/>
              </a:rPr>
              <a:t>teams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rapid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visualization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prevent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overcrowding</a:t>
            </a:r>
            <a:r>
              <a:rPr sz="2400" spc="-25" dirty="0">
                <a:latin typeface="Calibri"/>
                <a:cs typeface="Calibri"/>
              </a:rPr>
              <a:t> 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enhance</a:t>
            </a:r>
            <a:r>
              <a:rPr sz="2400" spc="-25" dirty="0">
                <a:latin typeface="Calibri"/>
                <a:cs typeface="Calibri"/>
              </a:rPr>
              <a:t> situational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awareness.</a:t>
            </a:r>
            <a:endParaRPr sz="2400">
              <a:latin typeface="Calibri"/>
              <a:cs typeface="Calibri"/>
            </a:endParaRPr>
          </a:p>
          <a:p>
            <a:pPr marL="355600" marR="70485" indent="-342900">
              <a:lnSpc>
                <a:spcPct val="100400"/>
              </a:lnSpc>
              <a:spcBef>
                <a:spcPts val="5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centralized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organizers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medical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staff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safety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coordinate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05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973454"/>
            <a:ext cx="10514965" cy="33464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attendees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devices.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0" dirty="0">
                <a:latin typeface="Calibri"/>
                <a:cs typeface="Calibri"/>
              </a:rPr>
              <a:t>To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2099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trigger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accurate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quick </a:t>
            </a:r>
            <a:r>
              <a:rPr sz="2400" dirty="0">
                <a:latin typeface="Calibri"/>
                <a:cs typeface="Calibri"/>
              </a:rPr>
              <a:t>medical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5600" marR="911225" indent="-342900">
              <a:lnSpc>
                <a:spcPct val="100800"/>
              </a:lnSpc>
              <a:spcBef>
                <a:spcPts val="7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analyze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preventing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overcrowding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safety management.</a:t>
            </a:r>
            <a:endParaRPr sz="2400">
              <a:latin typeface="Calibri"/>
              <a:cs typeface="Calibri"/>
            </a:endParaRPr>
          </a:p>
          <a:p>
            <a:pPr marL="355600" marR="115570" indent="-342900">
              <a:lnSpc>
                <a:spcPct val="1008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centralized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organizers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oversee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conditions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287782"/>
            <a:ext cx="8625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Objectives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9267825" y="238175"/>
            <a:ext cx="2924175" cy="1219835"/>
            <a:chOff x="9267825" y="238175"/>
            <a:chExt cx="29241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7825" y="238175"/>
              <a:ext cx="29241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7375" y="447675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719435" cy="366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ESP32-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bands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MAX30102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30" dirty="0">
                <a:latin typeface="Calibri"/>
                <a:cs typeface="Calibri"/>
              </a:rPr>
              <a:t>Transmit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beacons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gateways,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forward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800"/>
              </a:lnSpc>
              <a:spcBef>
                <a:spcPts val="7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(</a:t>
            </a:r>
            <a:r>
              <a:rPr lang="en-IN" sz="2400" spc="-30" dirty="0" err="1">
                <a:latin typeface="Calibri"/>
                <a:cs typeface="Calibri"/>
              </a:rPr>
              <a:t>XGBoost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analyze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signs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 conditions.</a:t>
            </a:r>
            <a:endParaRPr sz="2400" dirty="0">
              <a:latin typeface="Calibri"/>
              <a:cs typeface="Calibri"/>
            </a:endParaRPr>
          </a:p>
          <a:p>
            <a:pPr marL="355600" marR="53975" indent="-342900">
              <a:lnSpc>
                <a:spcPct val="100800"/>
              </a:lnSpc>
              <a:spcBef>
                <a:spcPts val="49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backend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(FastAPI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Firebase/PostgreSQL)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 </a:t>
            </a:r>
            <a:r>
              <a:rPr sz="2400" dirty="0">
                <a:latin typeface="Calibri"/>
                <a:cs typeface="Calibri"/>
              </a:rPr>
              <a:t>alerts,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density.</a:t>
            </a:r>
            <a:endParaRPr sz="2400" dirty="0">
              <a:latin typeface="Calibri"/>
              <a:cs typeface="Calibri"/>
            </a:endParaRPr>
          </a:p>
          <a:p>
            <a:pPr marL="355600" marR="287020" indent="-342900">
              <a:lnSpc>
                <a:spcPct val="101699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event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center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displaying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monitoring, </a:t>
            </a:r>
            <a:r>
              <a:rPr sz="2400" spc="-2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density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heatmaps,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notifications.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Research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48003"/>
            <a:ext cx="968756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ESP32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microcontroller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MAX30102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heart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SpO₂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libri"/>
                <a:cs typeface="Calibri"/>
              </a:rPr>
              <a:t>monitoring.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BLE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beacons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transmitting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data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supporting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tracking.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30" dirty="0">
                <a:latin typeface="Calibri"/>
                <a:cs typeface="Calibri"/>
              </a:rPr>
              <a:t>Gateways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collecting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>
              <a:latin typeface="Calibri"/>
              <a:cs typeface="Calibri"/>
            </a:endParaRPr>
          </a:p>
          <a:p>
            <a:pPr marL="355600" marR="805815" indent="-342900">
              <a:lnSpc>
                <a:spcPct val="1008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libri"/>
                <a:cs typeface="Calibri"/>
              </a:rPr>
              <a:t>Smartphones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tablets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(optional)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viewing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organizers/medical</a:t>
            </a:r>
            <a:r>
              <a:rPr sz="2400" spc="-10" dirty="0">
                <a:latin typeface="Calibri"/>
                <a:cs typeface="Calibri"/>
              </a:rPr>
              <a:t> staff.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5"/>
              </a:spcBef>
            </a:pPr>
            <a:r>
              <a:rPr dirty="0"/>
              <a:t>Hardware</a:t>
            </a:r>
            <a:r>
              <a:rPr spc="-229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979611"/>
            <a:ext cx="9492615" cy="29635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4965" algn="l"/>
              </a:tabLst>
            </a:pPr>
            <a:r>
              <a:rPr lang="en-IN" sz="2400" spc="-35" dirty="0" err="1">
                <a:latin typeface="Calibri"/>
                <a:cs typeface="Calibri"/>
              </a:rPr>
              <a:t>XGBoost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FastAPI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backend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framework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Firebase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PostgreSQL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database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2099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libri"/>
                <a:cs typeface="Calibri"/>
              </a:rPr>
              <a:t>Dashboard/Visualization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Tools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heatmaps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notifications.</a:t>
            </a:r>
            <a:endParaRPr sz="2400" dirty="0">
              <a:latin typeface="Calibri"/>
              <a:cs typeface="Calibri"/>
            </a:endParaRPr>
          </a:p>
          <a:p>
            <a:pPr marL="355600" marR="77470" indent="-342900">
              <a:lnSpc>
                <a:spcPct val="1004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Optional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organizers/medical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staff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receive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Software</a:t>
            </a:r>
            <a:r>
              <a:rPr spc="-190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Architecture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8186C-6561-377F-2501-800DA8272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8"/>
          <a:stretch>
            <a:fillRect/>
          </a:stretch>
        </p:blipFill>
        <p:spPr>
          <a:xfrm>
            <a:off x="1295400" y="1350225"/>
            <a:ext cx="8534400" cy="49568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62989"/>
            <a:ext cx="9746615" cy="500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Wearable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 Monitoring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100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ESP32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bands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MAX30102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collect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heart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rate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SpO₂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real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latin typeface="Calibri"/>
                <a:cs typeface="Calibri"/>
              </a:rPr>
              <a:t>time.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Data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Transmission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BLE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beacons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transmit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local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gateways,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which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forward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it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cloud </a:t>
            </a:r>
            <a:r>
              <a:rPr sz="2150" spc="-10" dirty="0">
                <a:latin typeface="Calibri"/>
                <a:cs typeface="Calibri"/>
              </a:rPr>
              <a:t>servers.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 startAt="2"/>
              <a:tabLst>
                <a:tab pos="469265" algn="l"/>
              </a:tabLst>
            </a:pPr>
            <a:r>
              <a:rPr sz="2150" spc="-10" dirty="0">
                <a:latin typeface="Calibri"/>
                <a:cs typeface="Calibri"/>
              </a:rPr>
              <a:t>AI-</a:t>
            </a:r>
            <a:r>
              <a:rPr sz="2150" dirty="0">
                <a:latin typeface="Calibri"/>
                <a:cs typeface="Calibri"/>
              </a:rPr>
              <a:t>Based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Analysis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95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TensorFlow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Lite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models analyze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vitals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abnormal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conditions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latin typeface="Calibri"/>
                <a:cs typeface="Calibri"/>
              </a:rPr>
              <a:t>automatically.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 startAt="4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Emergency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10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Generates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instant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location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affected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individuals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rapid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medical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latin typeface="Calibri"/>
                <a:cs typeface="Calibri"/>
              </a:rPr>
              <a:t>response.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ts val="2560"/>
              </a:lnSpc>
              <a:spcBef>
                <a:spcPts val="615"/>
              </a:spcBef>
              <a:buAutoNum type="arabicPeriod" startAt="5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Crowd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&amp;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Visualization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469265" marR="565150" lvl="1" indent="149225">
              <a:lnSpc>
                <a:spcPts val="2630"/>
              </a:lnSpc>
              <a:spcBef>
                <a:spcPts val="25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Displays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real-</a:t>
            </a:r>
            <a:r>
              <a:rPr sz="2150" dirty="0">
                <a:latin typeface="Calibri"/>
                <a:cs typeface="Calibri"/>
              </a:rPr>
              <a:t>time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crowd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density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heatmaps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status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dashboards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for </a:t>
            </a:r>
            <a:r>
              <a:rPr sz="2150" dirty="0">
                <a:latin typeface="Calibri"/>
                <a:cs typeface="Calibri"/>
              </a:rPr>
              <a:t>organizers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medical</a:t>
            </a:r>
            <a:r>
              <a:rPr sz="2150" spc="-10" dirty="0">
                <a:latin typeface="Calibri"/>
                <a:cs typeface="Calibri"/>
              </a:rPr>
              <a:t> teams.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80" dirty="0"/>
              <a:t> </a:t>
            </a:r>
            <a:r>
              <a:rPr spc="-10" dirty="0"/>
              <a:t>Modules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48003"/>
            <a:ext cx="9768840" cy="40144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9265" marR="311150" indent="-45720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535305" algn="l"/>
              </a:tabLst>
            </a:pPr>
            <a:r>
              <a:rPr sz="2400" spc="-25" dirty="0">
                <a:latin typeface="Calibri"/>
                <a:cs typeface="Calibri"/>
              </a:rPr>
              <a:t>Integrated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AI-</a:t>
            </a:r>
            <a:r>
              <a:rPr sz="2400" spc="-10" dirty="0">
                <a:latin typeface="Calibri"/>
                <a:cs typeface="Calibri"/>
              </a:rPr>
              <a:t>based 	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469265" marR="389255" indent="-37211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265" algn="l"/>
                <a:tab pos="554990" algn="l"/>
              </a:tabLst>
            </a:pP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Proactive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Automatically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issues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alerts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medical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instantly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tracking.</a:t>
            </a:r>
            <a:endParaRPr sz="2400">
              <a:latin typeface="Calibri"/>
              <a:cs typeface="Calibri"/>
            </a:endParaRPr>
          </a:p>
          <a:p>
            <a:pPr marL="469265" marR="5080" indent="-457200">
              <a:lnSpc>
                <a:spcPct val="100400"/>
              </a:lnSpc>
              <a:spcBef>
                <a:spcPts val="520"/>
              </a:spcBef>
              <a:buAutoNum type="arabicPeriod"/>
              <a:tabLst>
                <a:tab pos="469265" algn="l"/>
              </a:tabLst>
            </a:pP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spc="-10" dirty="0">
                <a:latin typeface="Calibri"/>
                <a:cs typeface="Calibri"/>
              </a:rPr>
              <a:t>Time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Provides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visualization,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organizers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overcrowding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  <a:p>
            <a:pPr marL="469265" marR="672465" indent="-457200">
              <a:lnSpc>
                <a:spcPct val="103299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IoT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Synergy: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Leverages</a:t>
            </a:r>
            <a:r>
              <a:rPr sz="2400" spc="-50" dirty="0">
                <a:latin typeface="Calibri"/>
                <a:cs typeface="Calibri"/>
              </a:rPr>
              <a:t> ESP32-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lightweight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 </a:t>
            </a:r>
            <a:r>
              <a:rPr sz="2400" spc="-10" dirty="0">
                <a:latin typeface="Calibri"/>
                <a:cs typeface="Calibri"/>
              </a:rPr>
              <a:t>models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monitoring.</a:t>
            </a:r>
            <a:endParaRPr sz="2400">
              <a:latin typeface="Calibri"/>
              <a:cs typeface="Calibri"/>
            </a:endParaRPr>
          </a:p>
          <a:p>
            <a:pPr marL="469265" marR="66675" indent="-457200">
              <a:lnSpc>
                <a:spcPct val="100800"/>
              </a:lnSpc>
              <a:spcBef>
                <a:spcPts val="509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Flexible: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concerts,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sports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festivals,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public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gatherings.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Novelty</a:t>
            </a:r>
            <a:r>
              <a:rPr spc="-11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dirty="0"/>
              <a:t>Proposed</a:t>
            </a:r>
            <a:r>
              <a:rPr spc="-55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1334" marR="5080" indent="-45720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547370" algn="l"/>
              </a:tabLst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proposed</a:t>
            </a:r>
            <a:r>
              <a:rPr spc="-70" dirty="0"/>
              <a:t> </a:t>
            </a:r>
            <a:r>
              <a:rPr spc="-25" dirty="0"/>
              <a:t>AI-</a:t>
            </a:r>
            <a:r>
              <a:rPr spc="-20" dirty="0"/>
              <a:t>powered</a:t>
            </a:r>
            <a:r>
              <a:rPr spc="-90" dirty="0"/>
              <a:t> </a:t>
            </a:r>
            <a:r>
              <a:rPr dirty="0"/>
              <a:t>Crowd</a:t>
            </a:r>
            <a:r>
              <a:rPr spc="-110" dirty="0"/>
              <a:t> </a:t>
            </a:r>
            <a:r>
              <a:rPr spc="-20" dirty="0"/>
              <a:t>Management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dirty="0"/>
              <a:t>Health</a:t>
            </a:r>
            <a:r>
              <a:rPr spc="-114" dirty="0"/>
              <a:t> </a:t>
            </a:r>
            <a:r>
              <a:rPr dirty="0"/>
              <a:t>Monitoring</a:t>
            </a:r>
            <a:r>
              <a:rPr spc="-50" dirty="0"/>
              <a:t> </a:t>
            </a:r>
            <a:r>
              <a:rPr spc="-10" dirty="0"/>
              <a:t>System 	</a:t>
            </a:r>
            <a:r>
              <a:rPr dirty="0"/>
              <a:t>ensures</a:t>
            </a:r>
            <a:r>
              <a:rPr spc="-75" dirty="0"/>
              <a:t> </a:t>
            </a:r>
            <a:r>
              <a:rPr spc="-40" dirty="0"/>
              <a:t>real-</a:t>
            </a:r>
            <a:r>
              <a:rPr dirty="0"/>
              <a:t>time</a:t>
            </a:r>
            <a:r>
              <a:rPr spc="-120" dirty="0"/>
              <a:t> </a:t>
            </a:r>
            <a:r>
              <a:rPr dirty="0"/>
              <a:t>monitoring</a:t>
            </a:r>
            <a:r>
              <a:rPr spc="-13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attendees’</a:t>
            </a:r>
            <a:r>
              <a:rPr spc="-40" dirty="0"/>
              <a:t> </a:t>
            </a:r>
            <a:r>
              <a:rPr dirty="0"/>
              <a:t>health</a:t>
            </a:r>
            <a:r>
              <a:rPr spc="-95" dirty="0"/>
              <a:t> </a:t>
            </a:r>
            <a:r>
              <a:rPr dirty="0"/>
              <a:t>during</a:t>
            </a:r>
            <a:r>
              <a:rPr spc="-120" dirty="0"/>
              <a:t> </a:t>
            </a:r>
            <a:r>
              <a:rPr spc="-25" dirty="0"/>
              <a:t>large-</a:t>
            </a:r>
            <a:r>
              <a:rPr dirty="0"/>
              <a:t>scale</a:t>
            </a:r>
            <a:r>
              <a:rPr spc="-35" dirty="0"/>
              <a:t> </a:t>
            </a:r>
            <a:r>
              <a:rPr spc="-10" dirty="0"/>
              <a:t>events.</a:t>
            </a:r>
          </a:p>
          <a:p>
            <a:pPr marL="467995" marR="898525" indent="-45593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265" algn="l"/>
              </a:tabLst>
            </a:pPr>
            <a:r>
              <a:rPr dirty="0"/>
              <a:t>It</a:t>
            </a:r>
            <a:r>
              <a:rPr spc="-100" dirty="0"/>
              <a:t> </a:t>
            </a:r>
            <a:r>
              <a:rPr dirty="0"/>
              <a:t>enables</a:t>
            </a:r>
            <a:r>
              <a:rPr spc="-65" dirty="0"/>
              <a:t> </a:t>
            </a:r>
            <a:r>
              <a:rPr spc="-20" dirty="0"/>
              <a:t>instant</a:t>
            </a:r>
            <a:r>
              <a:rPr spc="-100" dirty="0"/>
              <a:t> </a:t>
            </a:r>
            <a:r>
              <a:rPr spc="-10" dirty="0"/>
              <a:t>detection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abnormal</a:t>
            </a:r>
            <a:r>
              <a:rPr spc="-70" dirty="0"/>
              <a:t> </a:t>
            </a:r>
            <a:r>
              <a:rPr dirty="0"/>
              <a:t>conditions</a:t>
            </a:r>
            <a:r>
              <a:rPr spc="-8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triggers</a:t>
            </a:r>
            <a:r>
              <a:rPr spc="-90" dirty="0"/>
              <a:t> </a:t>
            </a:r>
            <a:r>
              <a:rPr spc="-10" dirty="0"/>
              <a:t>rapid 	</a:t>
            </a:r>
            <a:r>
              <a:rPr dirty="0"/>
              <a:t>emergency</a:t>
            </a:r>
            <a:r>
              <a:rPr spc="-80" dirty="0"/>
              <a:t> </a:t>
            </a:r>
            <a:r>
              <a:rPr dirty="0"/>
              <a:t>response</a:t>
            </a:r>
            <a:r>
              <a:rPr spc="-95" dirty="0"/>
              <a:t> </a:t>
            </a:r>
            <a:r>
              <a:rPr dirty="0"/>
              <a:t>with</a:t>
            </a:r>
            <a:r>
              <a:rPr spc="-85" dirty="0"/>
              <a:t> </a:t>
            </a:r>
            <a:r>
              <a:rPr spc="-10" dirty="0"/>
              <a:t>precise</a:t>
            </a:r>
            <a:r>
              <a:rPr spc="-95" dirty="0"/>
              <a:t> </a:t>
            </a:r>
            <a:r>
              <a:rPr spc="-10" dirty="0"/>
              <a:t>location</a:t>
            </a:r>
            <a:r>
              <a:rPr spc="-95" dirty="0"/>
              <a:t> </a:t>
            </a:r>
            <a:r>
              <a:rPr spc="-10" dirty="0"/>
              <a:t>tracking.</a:t>
            </a:r>
          </a:p>
          <a:p>
            <a:pPr marL="462915" marR="1054100" indent="-450850" algn="just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69265" algn="l"/>
              </a:tabLst>
            </a:pPr>
            <a:r>
              <a:rPr dirty="0"/>
              <a:t>By</a:t>
            </a:r>
            <a:r>
              <a:rPr spc="10" dirty="0"/>
              <a:t> </a:t>
            </a:r>
            <a:r>
              <a:rPr dirty="0"/>
              <a:t>combining</a:t>
            </a:r>
            <a:r>
              <a:rPr spc="15" dirty="0"/>
              <a:t> </a:t>
            </a:r>
            <a:r>
              <a:rPr dirty="0"/>
              <a:t>wearable</a:t>
            </a:r>
            <a:r>
              <a:rPr spc="25" dirty="0"/>
              <a:t> </a:t>
            </a:r>
            <a:r>
              <a:rPr dirty="0"/>
              <a:t>IoT</a:t>
            </a:r>
            <a:r>
              <a:rPr spc="10" dirty="0"/>
              <a:t> </a:t>
            </a:r>
            <a:r>
              <a:rPr dirty="0"/>
              <a:t>devices,</a:t>
            </a:r>
            <a:r>
              <a:rPr spc="20" dirty="0"/>
              <a:t> </a:t>
            </a:r>
            <a:r>
              <a:rPr dirty="0"/>
              <a:t>AI</a:t>
            </a:r>
            <a:r>
              <a:rPr spc="15" dirty="0"/>
              <a:t> </a:t>
            </a:r>
            <a:r>
              <a:rPr dirty="0"/>
              <a:t>analytics,</a:t>
            </a:r>
            <a:r>
              <a:rPr spc="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crowd</a:t>
            </a:r>
            <a:r>
              <a:rPr spc="20" dirty="0"/>
              <a:t> </a:t>
            </a:r>
            <a:r>
              <a:rPr spc="-10" dirty="0"/>
              <a:t>density 	visualization,</a:t>
            </a:r>
            <a:r>
              <a:rPr spc="-6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80" dirty="0"/>
              <a:t> </a:t>
            </a:r>
            <a:r>
              <a:rPr dirty="0"/>
              <a:t>enhances</a:t>
            </a:r>
            <a:r>
              <a:rPr spc="-60" dirty="0"/>
              <a:t> </a:t>
            </a:r>
            <a:r>
              <a:rPr spc="-10" dirty="0"/>
              <a:t>safety,</a:t>
            </a:r>
            <a:r>
              <a:rPr spc="-75" dirty="0"/>
              <a:t> </a:t>
            </a:r>
            <a:r>
              <a:rPr spc="-20" dirty="0"/>
              <a:t>efficiency,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situational 	awareness.</a:t>
            </a:r>
          </a:p>
          <a:p>
            <a:pPr marL="465455" indent="-452755" algn="just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65455" algn="l"/>
              </a:tabLst>
            </a:pPr>
            <a:r>
              <a:rPr dirty="0"/>
              <a:t>The</a:t>
            </a:r>
            <a:r>
              <a:rPr spc="-8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offers</a:t>
            </a:r>
            <a:r>
              <a:rPr spc="-75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dirty="0"/>
              <a:t>scalable,</a:t>
            </a:r>
            <a:r>
              <a:rPr spc="-95" dirty="0"/>
              <a:t> </a:t>
            </a:r>
            <a:r>
              <a:rPr spc="-20" dirty="0"/>
              <a:t>integrated</a:t>
            </a:r>
            <a:r>
              <a:rPr spc="-90" dirty="0"/>
              <a:t> </a:t>
            </a:r>
            <a:r>
              <a:rPr dirty="0"/>
              <a:t>solution</a:t>
            </a:r>
            <a:r>
              <a:rPr spc="-80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dirty="0"/>
              <a:t>safer</a:t>
            </a:r>
            <a:r>
              <a:rPr spc="-9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smarter</a:t>
            </a:r>
          </a:p>
          <a:p>
            <a:pPr marL="469265" algn="just">
              <a:lnSpc>
                <a:spcPct val="100000"/>
              </a:lnSpc>
              <a:spcBef>
                <a:spcPts val="15"/>
              </a:spcBef>
            </a:pPr>
            <a:r>
              <a:rPr dirty="0"/>
              <a:t>management</a:t>
            </a:r>
            <a:r>
              <a:rPr spc="-8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public</a:t>
            </a:r>
            <a:r>
              <a:rPr spc="-114" dirty="0"/>
              <a:t> </a:t>
            </a:r>
            <a:r>
              <a:rPr spc="-10" dirty="0"/>
              <a:t>gatherings.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862075"/>
            <a:ext cx="10837545" cy="440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Times New Roman"/>
                <a:cs typeface="Times New Roman"/>
              </a:rPr>
              <a:t>Authors,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Year,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Title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Paper,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/ Conference,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Volume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Page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Details,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DOI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(Samples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given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below)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Kong,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W.,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2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Agarwal,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P.P.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imaging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appearance</a:t>
            </a:r>
            <a:r>
              <a:rPr sz="1550" spc="2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19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infection.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Radiology: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Cardiothoracic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Imaging,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610"/>
              </a:spcBef>
            </a:pPr>
            <a:r>
              <a:rPr sz="1550" spc="-10" dirty="0">
                <a:latin typeface="Times New Roman"/>
                <a:cs typeface="Times New Roman"/>
              </a:rPr>
              <a:t>2(1).</a:t>
            </a:r>
            <a:endParaRPr sz="1550">
              <a:latin typeface="Times New Roman"/>
              <a:cs typeface="Times New Roman"/>
            </a:endParaRPr>
          </a:p>
          <a:p>
            <a:pPr marL="469900" marR="132715" indent="-457200">
              <a:lnSpc>
                <a:spcPct val="185800"/>
              </a:lnSpc>
              <a:spcBef>
                <a:spcPts val="505"/>
              </a:spcBef>
              <a:buAutoNum type="arabicPeriod" startAt="2"/>
              <a:tabLst>
                <a:tab pos="469900" algn="l"/>
              </a:tabLst>
            </a:pPr>
            <a:r>
              <a:rPr sz="1550" dirty="0">
                <a:latin typeface="Times New Roman"/>
                <a:cs typeface="Times New Roman"/>
              </a:rPr>
              <a:t>Li,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Y.,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Xia,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L.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Coronavirus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Disease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2019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(COVID-</a:t>
            </a:r>
            <a:r>
              <a:rPr sz="1550" dirty="0">
                <a:latin typeface="Times New Roman"/>
                <a:cs typeface="Times New Roman"/>
              </a:rPr>
              <a:t>19):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CT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diagnosis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management.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American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Roentgenology,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1–7.</a:t>
            </a: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600"/>
              </a:spcBef>
              <a:buAutoNum type="arabicPeriod" startAt="2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Mooney,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P.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Kaggle</a:t>
            </a:r>
            <a:r>
              <a:rPr sz="1550" spc="2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x-</a:t>
            </a:r>
            <a:r>
              <a:rPr sz="1550" dirty="0">
                <a:latin typeface="Times New Roman"/>
                <a:cs typeface="Times New Roman"/>
              </a:rPr>
              <a:t>ray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images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(pneumonia)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dataset,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https://github.com/ieee8023/covid-chestxray-datase</a:t>
            </a: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 startAt="2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Parnian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Afshar.,</a:t>
            </a:r>
            <a:r>
              <a:rPr sz="1550" spc="4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Shahin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Heidarian.,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Farnoosh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Naderkhani.,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Anastasia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Oikonomou.,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Konstantinos,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N.</a:t>
            </a:r>
            <a:r>
              <a:rPr sz="1550" spc="4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Plataniotis.,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4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Arash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95"/>
              </a:spcBef>
            </a:pPr>
            <a:r>
              <a:rPr sz="1550" dirty="0">
                <a:latin typeface="Times New Roman"/>
                <a:cs typeface="Times New Roman"/>
              </a:rPr>
              <a:t>Mohammadi.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CAPS: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capsule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network-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identification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19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cases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X-</a:t>
            </a:r>
            <a:r>
              <a:rPr sz="1550" spc="-25" dirty="0">
                <a:latin typeface="Times New Roman"/>
                <a:cs typeface="Times New Roman"/>
              </a:rPr>
              <a:t>ray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95"/>
              </a:spcBef>
            </a:pPr>
            <a:r>
              <a:rPr sz="1550" dirty="0">
                <a:latin typeface="Times New Roman"/>
                <a:cs typeface="Times New Roman"/>
              </a:rPr>
              <a:t>images,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Pattern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Recognition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Letters,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138,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638–643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Singhal,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T.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review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corona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virus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disease-</a:t>
            </a:r>
            <a:r>
              <a:rPr sz="1550" dirty="0">
                <a:latin typeface="Times New Roman"/>
                <a:cs typeface="Times New Roman"/>
              </a:rPr>
              <a:t>2019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(COVID-</a:t>
            </a:r>
            <a:r>
              <a:rPr sz="1550" dirty="0">
                <a:latin typeface="Times New Roman"/>
                <a:cs typeface="Times New Roman"/>
              </a:rPr>
              <a:t>19).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Indian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Pediatrics,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87,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281–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286.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488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4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213" y="1297311"/>
            <a:ext cx="9199186" cy="4455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5335" y="1308214"/>
            <a:ext cx="10002520" cy="4599305"/>
            <a:chOff x="915335" y="1308214"/>
            <a:chExt cx="10002520" cy="4599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335" y="1308214"/>
              <a:ext cx="10002271" cy="4598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95400" y="1981199"/>
              <a:ext cx="381000" cy="3721100"/>
            </a:xfrm>
            <a:custGeom>
              <a:avLst/>
              <a:gdLst/>
              <a:ahLst/>
              <a:cxnLst/>
              <a:rect l="l" t="t" r="r" b="b"/>
              <a:pathLst>
                <a:path w="381000" h="3721100">
                  <a:moveTo>
                    <a:pt x="304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lnTo>
                    <a:pt x="304800" y="0"/>
                  </a:lnTo>
                  <a:close/>
                </a:path>
                <a:path w="381000" h="3721100">
                  <a:moveTo>
                    <a:pt x="361950" y="3492373"/>
                  </a:moveTo>
                  <a:lnTo>
                    <a:pt x="57150" y="3492373"/>
                  </a:lnTo>
                  <a:lnTo>
                    <a:pt x="57150" y="3720973"/>
                  </a:lnTo>
                  <a:lnTo>
                    <a:pt x="361950" y="3720973"/>
                  </a:lnTo>
                  <a:lnTo>
                    <a:pt x="361950" y="3492373"/>
                  </a:lnTo>
                  <a:close/>
                </a:path>
                <a:path w="381000" h="3721100">
                  <a:moveTo>
                    <a:pt x="381000" y="1371600"/>
                  </a:moveTo>
                  <a:lnTo>
                    <a:pt x="76200" y="1371600"/>
                  </a:lnTo>
                  <a:lnTo>
                    <a:pt x="76200" y="1676400"/>
                  </a:lnTo>
                  <a:lnTo>
                    <a:pt x="381000" y="1676400"/>
                  </a:lnTo>
                  <a:lnTo>
                    <a:pt x="381000" y="137160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9455" y="113475"/>
            <a:ext cx="11015980" cy="5531485"/>
            <a:chOff x="1119455" y="113475"/>
            <a:chExt cx="11015980" cy="5531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455" y="1276413"/>
              <a:ext cx="9852842" cy="4367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4000" y="2209799"/>
              <a:ext cx="323850" cy="3048000"/>
            </a:xfrm>
            <a:custGeom>
              <a:avLst/>
              <a:gdLst/>
              <a:ahLst/>
              <a:cxnLst/>
              <a:rect l="l" t="t" r="r" b="b"/>
              <a:pathLst>
                <a:path w="323850" h="3048000">
                  <a:moveTo>
                    <a:pt x="304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lnTo>
                    <a:pt x="304800" y="0"/>
                  </a:lnTo>
                  <a:close/>
                </a:path>
                <a:path w="323850" h="3048000">
                  <a:moveTo>
                    <a:pt x="321310" y="2819400"/>
                  </a:moveTo>
                  <a:lnTo>
                    <a:pt x="16510" y="2819400"/>
                  </a:lnTo>
                  <a:lnTo>
                    <a:pt x="16510" y="3048000"/>
                  </a:lnTo>
                  <a:lnTo>
                    <a:pt x="321310" y="3048000"/>
                  </a:lnTo>
                  <a:lnTo>
                    <a:pt x="321310" y="2819400"/>
                  </a:lnTo>
                  <a:close/>
                </a:path>
                <a:path w="323850" h="3048000">
                  <a:moveTo>
                    <a:pt x="323799" y="457200"/>
                  </a:moveTo>
                  <a:lnTo>
                    <a:pt x="35560" y="457200"/>
                  </a:lnTo>
                  <a:lnTo>
                    <a:pt x="35560" y="685800"/>
                  </a:lnTo>
                  <a:lnTo>
                    <a:pt x="323799" y="685800"/>
                  </a:lnTo>
                  <a:lnTo>
                    <a:pt x="323799" y="45720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1557</Words>
  <Application>Microsoft Office PowerPoint</Application>
  <PresentationFormat>Widescreen</PresentationFormat>
  <Paragraphs>199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Crowd Sense  </vt:lpstr>
      <vt:lpstr>Agenda</vt:lpstr>
      <vt:lpstr>Introduction</vt:lpstr>
      <vt:lpstr>Review of literature</vt:lpstr>
      <vt:lpstr>PowerPoint Presentation</vt:lpstr>
      <vt:lpstr>Observations from the Literature Review</vt:lpstr>
      <vt:lpstr>Limitations from the Literature Review</vt:lpstr>
      <vt:lpstr>Problem Statement</vt:lpstr>
      <vt:lpstr>Proposed Idea</vt:lpstr>
      <vt:lpstr>Objectives of the Idea</vt:lpstr>
      <vt:lpstr>Proposed Research</vt:lpstr>
      <vt:lpstr>Hardware Requirements</vt:lpstr>
      <vt:lpstr>Software Requirements</vt:lpstr>
      <vt:lpstr>Architecture</vt:lpstr>
      <vt:lpstr>Proposed Modules</vt:lpstr>
      <vt:lpstr>Novelty of the Proposed Idea</vt:lpstr>
      <vt:lpstr>Conclusion</vt:lpstr>
      <vt:lpstr>References</vt:lpstr>
      <vt:lpstr>Partial Implementation</vt:lpstr>
      <vt:lpstr>Partial Implementation</vt:lpstr>
      <vt:lpstr>Partial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Subhi Jose</dc:creator>
  <cp:lastModifiedBy>HARIDUTHRAM P S</cp:lastModifiedBy>
  <cp:revision>4</cp:revision>
  <dcterms:created xsi:type="dcterms:W3CDTF">2026-02-16T04:59:04Z</dcterms:created>
  <dcterms:modified xsi:type="dcterms:W3CDTF">2026-03-18T07:17:28Z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2026-02-16T00:00:00Z</vt:filetime>
  </property>
  <property fmtid="{D5CDD505-2E9C-101B-9397-08002B2CF9AE}" pid="5" name="Producer">
    <vt:lpwstr>3-Heights(TM) PDF Security Shell 4.8.25.2 (http://www.pdf-tools.com)</vt:lpwstr>
  </property>
</Properties>
</file>